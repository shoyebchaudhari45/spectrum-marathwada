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embeddedFontLst>
    <p:embeddedFont>
      <p:font typeface="DM Sans Medium"/>
      <p:regular r:id="rId201314"/>
    </p:embeddedFont>
    <p:embeddedFont>
      <p:font typeface="DM Sans SemiBold"/>
      <p:regular r:id="rId201315"/>
    </p:embeddedFont>
    <p:embeddedFont>
      <p:font typeface="DM Sans Bold"/>
      <p:regular r:id="rId201316"/>
    </p:embeddedFont>
    <p:embeddedFont>
      <p:font typeface="DM Sans Black"/>
      <p:regular r:id="rId201317"/>
    </p:embeddedFont>
    <p:embeddedFont>
      <p:font typeface="Inter Medium"/>
      <p:regular r:id="rId201318"/>
    </p:embeddedFont>
    <p:embeddedFont>
      <p:font typeface="Inter SemiBold"/>
      <p:regular r:id="rId201319"/>
    </p:embeddedFont>
    <p:embeddedFont>
      <p:font typeface="Inter Bold"/>
      <p:regular r:id="rId201320"/>
    </p:embeddedFont>
    <p:embeddedFont>
      <p:font typeface="Inter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image" Target="../media/image-2-12.png"/><Relationship Id="rId13" Type="http://schemas.openxmlformats.org/officeDocument/2006/relationships/image" Target="../media/image-2-13.svg"/><Relationship Id="rId14" Type="http://schemas.openxmlformats.org/officeDocument/2006/relationships/image" Target="../media/image-2-14.png"/><Relationship Id="rId15" Type="http://schemas.openxmlformats.org/officeDocument/2006/relationships/image" Target="../media/image-2-15.sv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332"/>
            <a:ext cx="1036810" cy="206276"/>
          </a:xfrm>
          <a:prstGeom prst="roundRect">
            <a:avLst>
              <a:gd name="adj" fmla="val 7903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742931" y="570012"/>
            <a:ext cx="1483482" cy="124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CMIA IN ACTION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74601"/>
            <a:ext cx="10868745" cy="339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Anchoring Investments in CSN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56682" y="1260673"/>
            <a:ext cx="11478330" cy="233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CMIA's leadership has been present at every critical milestone — from boardrooms to factory floors.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163800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64646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1898452"/>
            <a:ext cx="336462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C977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Toyota Kirloskar Motors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288480"/>
            <a:ext cx="3364622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₹25k Cr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661475" y="2877939"/>
            <a:ext cx="3364622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Investment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1475" y="3327797"/>
            <a:ext cx="3364622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16k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661475" y="3917255"/>
            <a:ext cx="3364622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Employment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63829" y="1898452"/>
            <a:ext cx="336462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C977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Ather Energy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63829" y="2288480"/>
            <a:ext cx="3364622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₹2k Cr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4363829" y="2877939"/>
            <a:ext cx="3364622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Investment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63829" y="3327797"/>
            <a:ext cx="3364622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4k</a:t>
            </a:r>
            <a:endParaRPr lang="en-US" sz="3500" dirty="0"/>
          </a:p>
        </p:txBody>
      </p:sp>
      <p:sp>
        <p:nvSpPr>
          <p:cNvPr id="16" name="Text 14"/>
          <p:cNvSpPr/>
          <p:nvPr/>
        </p:nvSpPr>
        <p:spPr>
          <a:xfrm>
            <a:off x="4363829" y="3917255"/>
            <a:ext cx="3364622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Employment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66183" y="1985367"/>
            <a:ext cx="67864" cy="67866"/>
          </a:xfrm>
          <a:prstGeom prst="ellipse">
            <a:avLst/>
          </a:prstGeom>
          <a:solidFill>
            <a:srgbClr val="1C9770"/>
          </a:solidFill>
          <a:ln/>
        </p:spPr>
      </p:sp>
      <p:sp>
        <p:nvSpPr>
          <p:cNvPr id="18" name="Text 16"/>
          <p:cNvSpPr/>
          <p:nvPr/>
        </p:nvSpPr>
        <p:spPr>
          <a:xfrm>
            <a:off x="8231676" y="1910655"/>
            <a:ext cx="1511758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18+ Months of active facilitation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865470" y="1985367"/>
            <a:ext cx="67864" cy="67866"/>
          </a:xfrm>
          <a:prstGeom prst="ellipse">
            <a:avLst/>
          </a:prstGeom>
          <a:solidFill>
            <a:srgbClr val="1C977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30963" y="1910655"/>
            <a:ext cx="1511857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10+ Delegations to CSN led by CMIA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66183" y="2554089"/>
            <a:ext cx="67864" cy="67866"/>
          </a:xfrm>
          <a:prstGeom prst="ellipse">
            <a:avLst/>
          </a:prstGeom>
          <a:solidFill>
            <a:srgbClr val="1C9770"/>
          </a:solidFill>
          <a:ln/>
        </p:spPr>
      </p:sp>
      <p:sp>
        <p:nvSpPr>
          <p:cNvPr id="22" name="Text 20"/>
          <p:cNvSpPr/>
          <p:nvPr/>
        </p:nvSpPr>
        <p:spPr>
          <a:xfrm>
            <a:off x="8231676" y="2479377"/>
            <a:ext cx="1511758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25+ TKM members (70% Japanese)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65470" y="2554089"/>
            <a:ext cx="67864" cy="67866"/>
          </a:xfrm>
          <a:prstGeom prst="ellipse">
            <a:avLst/>
          </a:prstGeom>
          <a:solidFill>
            <a:srgbClr val="1C9770"/>
          </a:solidFill>
          <a:ln/>
        </p:spPr>
      </p:sp>
      <p:sp>
        <p:nvSpPr>
          <p:cNvPr id="24" name="Text 22"/>
          <p:cNvSpPr/>
          <p:nvPr/>
        </p:nvSpPr>
        <p:spPr>
          <a:xfrm>
            <a:off x="10030963" y="2479377"/>
            <a:ext cx="1511857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250+ kms / visit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1475" y="4357588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64646">
              <a:alpha val="50000"/>
            </a:srgbClr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4630241"/>
            <a:ext cx="2468600" cy="1528465"/>
          </a:xfrm>
          <a:prstGeom prst="rect">
            <a:avLst/>
          </a:prstGeom>
        </p:spPr>
      </p:pic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807" y="4630241"/>
            <a:ext cx="2468600" cy="1588492"/>
          </a:xfrm>
          <a:prstGeom prst="rect">
            <a:avLst/>
          </a:prstGeom>
        </p:spPr>
      </p:pic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139" y="4630241"/>
            <a:ext cx="1474651" cy="1105991"/>
          </a:xfrm>
          <a:prstGeom prst="rect">
            <a:avLst/>
          </a:prstGeom>
        </p:spPr>
      </p:pic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471" y="4630241"/>
            <a:ext cx="1706917" cy="10085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61475" y="677168"/>
            <a:ext cx="1407780" cy="242292"/>
          </a:xfrm>
          <a:prstGeom prst="roundRect">
            <a:avLst>
              <a:gd name="adj" fmla="val 7899"/>
            </a:avLst>
          </a:prstGeom>
          <a:solidFill>
            <a:srgbClr val="D4F7EC"/>
          </a:solidFill>
          <a:ln/>
        </p:spPr>
      </p:sp>
      <p:sp>
        <p:nvSpPr>
          <p:cNvPr id="5" name="Text 2"/>
          <p:cNvSpPr/>
          <p:nvPr/>
        </p:nvSpPr>
        <p:spPr>
          <a:xfrm>
            <a:off x="757119" y="724991"/>
            <a:ext cx="1826075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NATIONAL AGENDA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1475" y="973237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Strategic National Demands: What We Seek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61475" y="1673423"/>
            <a:ext cx="11478330" cy="29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Catalytic Interventions to Anchor Maharashtra's Central Growth Hub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61475" y="2158504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64646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2368649"/>
            <a:ext cx="3533191" cy="1181001"/>
          </a:xfrm>
          <a:prstGeom prst="roundRect">
            <a:avLst>
              <a:gd name="adj" fmla="val 2026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2188810" y="2528094"/>
            <a:ext cx="478421" cy="478433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20371" y="2659658"/>
            <a:ext cx="215299" cy="2153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0915" y="3141067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Ease of Compliance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4329203" y="2368649"/>
            <a:ext cx="3533191" cy="1181001"/>
          </a:xfrm>
          <a:prstGeom prst="roundRect">
            <a:avLst>
              <a:gd name="adj" fmla="val 2026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5856538" y="2528094"/>
            <a:ext cx="478421" cy="478433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8099" y="2659658"/>
            <a:ext cx="215299" cy="2153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88643" y="3141067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PLI &amp; MIME — Import Substitution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7996930" y="2368649"/>
            <a:ext cx="3533191" cy="1181001"/>
          </a:xfrm>
          <a:prstGeom prst="roundRect">
            <a:avLst>
              <a:gd name="adj" fmla="val 2026"/>
            </a:avLst>
          </a:prstGeom>
          <a:solidFill>
            <a:srgbClr val="F2EEEE"/>
          </a:solidFill>
          <a:ln/>
        </p:spPr>
      </p:sp>
      <p:sp>
        <p:nvSpPr>
          <p:cNvPr id="18" name="Shape 13"/>
          <p:cNvSpPr/>
          <p:nvPr/>
        </p:nvSpPr>
        <p:spPr>
          <a:xfrm>
            <a:off x="9524266" y="2528094"/>
            <a:ext cx="478421" cy="478433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55826" y="2659658"/>
            <a:ext cx="215299" cy="21530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56371" y="3141067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Faster &amp; Centralised Clearances</a:t>
            </a:r>
            <a:endParaRPr lang="en-US" sz="1550" dirty="0"/>
          </a:p>
        </p:txBody>
      </p:sp>
      <p:sp>
        <p:nvSpPr>
          <p:cNvPr id="21" name="Shape 15"/>
          <p:cNvSpPr/>
          <p:nvPr/>
        </p:nvSpPr>
        <p:spPr>
          <a:xfrm>
            <a:off x="661475" y="3684191"/>
            <a:ext cx="3533191" cy="1181001"/>
          </a:xfrm>
          <a:prstGeom prst="roundRect">
            <a:avLst>
              <a:gd name="adj" fmla="val 2026"/>
            </a:avLst>
          </a:prstGeom>
          <a:solidFill>
            <a:srgbClr val="F2EEEE"/>
          </a:solidFill>
          <a:ln/>
        </p:spPr>
      </p:sp>
      <p:sp>
        <p:nvSpPr>
          <p:cNvPr id="22" name="Shape 16"/>
          <p:cNvSpPr/>
          <p:nvPr/>
        </p:nvSpPr>
        <p:spPr>
          <a:xfrm>
            <a:off x="2188810" y="3843635"/>
            <a:ext cx="478421" cy="478433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20371" y="3975199"/>
            <a:ext cx="215299" cy="21530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0915" y="4456609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Defence Sister Location — CSN</a:t>
            </a:r>
            <a:endParaRPr lang="en-US" sz="1550" dirty="0"/>
          </a:p>
        </p:txBody>
      </p:sp>
      <p:sp>
        <p:nvSpPr>
          <p:cNvPr id="25" name="Shape 18"/>
          <p:cNvSpPr/>
          <p:nvPr/>
        </p:nvSpPr>
        <p:spPr>
          <a:xfrm>
            <a:off x="4329203" y="3684191"/>
            <a:ext cx="3533191" cy="1181001"/>
          </a:xfrm>
          <a:prstGeom prst="roundRect">
            <a:avLst>
              <a:gd name="adj" fmla="val 2026"/>
            </a:avLst>
          </a:prstGeom>
          <a:solidFill>
            <a:srgbClr val="F2EEEE"/>
          </a:solidFill>
          <a:ln/>
        </p:spPr>
      </p:sp>
      <p:sp>
        <p:nvSpPr>
          <p:cNvPr id="26" name="Shape 19"/>
          <p:cNvSpPr/>
          <p:nvPr/>
        </p:nvSpPr>
        <p:spPr>
          <a:xfrm>
            <a:off x="5856538" y="3843635"/>
            <a:ext cx="478421" cy="478433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88099" y="3975199"/>
            <a:ext cx="215299" cy="21530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488643" y="4456609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Industrial Township Program</a:t>
            </a:r>
            <a:endParaRPr lang="en-US" sz="1550" dirty="0"/>
          </a:p>
        </p:txBody>
      </p:sp>
      <p:sp>
        <p:nvSpPr>
          <p:cNvPr id="29" name="Shape 21"/>
          <p:cNvSpPr/>
          <p:nvPr/>
        </p:nvSpPr>
        <p:spPr>
          <a:xfrm>
            <a:off x="7996930" y="3684191"/>
            <a:ext cx="3533191" cy="1181001"/>
          </a:xfrm>
          <a:prstGeom prst="roundRect">
            <a:avLst>
              <a:gd name="adj" fmla="val 2026"/>
            </a:avLst>
          </a:prstGeom>
          <a:solidFill>
            <a:srgbClr val="F2EEEE"/>
          </a:solidFill>
          <a:ln/>
        </p:spPr>
      </p:sp>
      <p:sp>
        <p:nvSpPr>
          <p:cNvPr id="30" name="Shape 22"/>
          <p:cNvSpPr/>
          <p:nvPr/>
        </p:nvSpPr>
        <p:spPr>
          <a:xfrm>
            <a:off x="9524266" y="3843635"/>
            <a:ext cx="478421" cy="478433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55826" y="3975199"/>
            <a:ext cx="215299" cy="21530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156371" y="4456609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High-Speed Data Network</a:t>
            </a:r>
            <a:endParaRPr lang="en-US" sz="1550" dirty="0"/>
          </a:p>
        </p:txBody>
      </p:sp>
      <p:sp>
        <p:nvSpPr>
          <p:cNvPr id="33" name="Shape 24"/>
          <p:cNvSpPr/>
          <p:nvPr/>
        </p:nvSpPr>
        <p:spPr>
          <a:xfrm>
            <a:off x="661475" y="4999732"/>
            <a:ext cx="10868646" cy="1181001"/>
          </a:xfrm>
          <a:prstGeom prst="roundRect">
            <a:avLst>
              <a:gd name="adj" fmla="val 2026"/>
            </a:avLst>
          </a:prstGeom>
          <a:solidFill>
            <a:srgbClr val="F2EEEE"/>
          </a:solidFill>
          <a:ln/>
        </p:spPr>
      </p:sp>
      <p:sp>
        <p:nvSpPr>
          <p:cNvPr id="34" name="Shape 25"/>
          <p:cNvSpPr/>
          <p:nvPr/>
        </p:nvSpPr>
        <p:spPr>
          <a:xfrm>
            <a:off x="5856538" y="5159177"/>
            <a:ext cx="478421" cy="478433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88099" y="5290741"/>
            <a:ext cx="215299" cy="21530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20915" y="5772150"/>
            <a:ext cx="1054976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Clean Admin Manufacturing Zone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61475" y="563563"/>
            <a:ext cx="1528030" cy="233263"/>
          </a:xfrm>
          <a:prstGeom prst="roundRect">
            <a:avLst>
              <a:gd name="adj" fmla="val 7901"/>
            </a:avLst>
          </a:prstGeom>
          <a:solidFill>
            <a:srgbClr val="D4F7EC"/>
          </a:solidFill>
          <a:ln/>
        </p:spPr>
      </p:sp>
      <p:sp>
        <p:nvSpPr>
          <p:cNvPr id="7" name="Text 3"/>
          <p:cNvSpPr/>
          <p:nvPr/>
        </p:nvSpPr>
        <p:spPr>
          <a:xfrm>
            <a:off x="753548" y="609600"/>
            <a:ext cx="1953469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CMIA'S COMMITMENT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61475" y="846733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We Pledge to Deliver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356682" y="1513780"/>
            <a:ext cx="11478330" cy="278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high-accountability partnership between CMIA and the Government of India for Viksit Bharat 2047.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61475" y="197068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64646">
              <a:alpha val="5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661475" y="2168327"/>
            <a:ext cx="3539739" cy="1372195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12" name="Shape 8"/>
          <p:cNvSpPr/>
          <p:nvPr/>
        </p:nvSpPr>
        <p:spPr>
          <a:xfrm>
            <a:off x="2201014" y="2321818"/>
            <a:ext cx="460661" cy="460673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7713" y="2448421"/>
            <a:ext cx="207263" cy="2072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4962" y="2907209"/>
            <a:ext cx="323276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We Will Invest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325928" y="2168327"/>
            <a:ext cx="3539739" cy="1372195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16" name="Shape 11"/>
          <p:cNvSpPr/>
          <p:nvPr/>
        </p:nvSpPr>
        <p:spPr>
          <a:xfrm>
            <a:off x="5865467" y="2321818"/>
            <a:ext cx="460661" cy="460673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2167" y="2448421"/>
            <a:ext cx="207263" cy="2072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479416" y="2907209"/>
            <a:ext cx="323276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We Will Employ &amp; Build Talent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7990382" y="2168327"/>
            <a:ext cx="3539739" cy="1372195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20" name="Shape 14"/>
          <p:cNvSpPr/>
          <p:nvPr/>
        </p:nvSpPr>
        <p:spPr>
          <a:xfrm>
            <a:off x="9529921" y="2321818"/>
            <a:ext cx="460661" cy="460673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6620" y="2448421"/>
            <a:ext cx="207263" cy="2072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143870" y="2907209"/>
            <a:ext cx="323276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We Will Develop Local Suppliers &amp; MSMEs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61475" y="3665240"/>
            <a:ext cx="3539739" cy="1372195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24" name="Shape 17"/>
          <p:cNvSpPr/>
          <p:nvPr/>
        </p:nvSpPr>
        <p:spPr>
          <a:xfrm>
            <a:off x="2201014" y="3818731"/>
            <a:ext cx="460661" cy="460673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27713" y="3945334"/>
            <a:ext cx="207263" cy="2072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4962" y="4404122"/>
            <a:ext cx="323276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We Will Invest in Innovation, R&amp;D &amp; IP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4325928" y="3665240"/>
            <a:ext cx="3539739" cy="1372195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28" name="Shape 20"/>
          <p:cNvSpPr/>
          <p:nvPr/>
        </p:nvSpPr>
        <p:spPr>
          <a:xfrm>
            <a:off x="5865467" y="3818731"/>
            <a:ext cx="460661" cy="460673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92167" y="3945334"/>
            <a:ext cx="207263" cy="2072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479416" y="4404122"/>
            <a:ext cx="323276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We Will Take CSN Products to Global Markets</a:t>
            </a:r>
            <a:endParaRPr lang="en-US" sz="1500" dirty="0"/>
          </a:p>
        </p:txBody>
      </p:sp>
      <p:sp>
        <p:nvSpPr>
          <p:cNvPr id="31" name="Shape 22"/>
          <p:cNvSpPr/>
          <p:nvPr/>
        </p:nvSpPr>
        <p:spPr>
          <a:xfrm>
            <a:off x="7990382" y="3665240"/>
            <a:ext cx="3539739" cy="1372195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32" name="Shape 23"/>
          <p:cNvSpPr/>
          <p:nvPr/>
        </p:nvSpPr>
        <p:spPr>
          <a:xfrm>
            <a:off x="9529921" y="3818731"/>
            <a:ext cx="460661" cy="460673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56620" y="3945334"/>
            <a:ext cx="207263" cy="2072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143870" y="4404122"/>
            <a:ext cx="323276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We Will Build the Wider Ecosystem</a:t>
            </a:r>
            <a:endParaRPr lang="en-US" sz="1500" dirty="0"/>
          </a:p>
        </p:txBody>
      </p:sp>
      <p:sp>
        <p:nvSpPr>
          <p:cNvPr id="35" name="Shape 25"/>
          <p:cNvSpPr/>
          <p:nvPr/>
        </p:nvSpPr>
        <p:spPr>
          <a:xfrm>
            <a:off x="661475" y="5162153"/>
            <a:ext cx="10868646" cy="1132284"/>
          </a:xfrm>
          <a:prstGeom prst="roundRect">
            <a:avLst>
              <a:gd name="adj" fmla="val 2035"/>
            </a:avLst>
          </a:prstGeom>
          <a:solidFill>
            <a:srgbClr val="F2EEEE"/>
          </a:solidFill>
          <a:ln/>
        </p:spPr>
      </p:sp>
      <p:sp>
        <p:nvSpPr>
          <p:cNvPr id="36" name="Shape 26"/>
          <p:cNvSpPr/>
          <p:nvPr/>
        </p:nvSpPr>
        <p:spPr>
          <a:xfrm>
            <a:off x="5865467" y="5315645"/>
            <a:ext cx="460661" cy="460673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92167" y="5442248"/>
            <a:ext cx="207263" cy="20726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814962" y="5901035"/>
            <a:ext cx="1056167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We Will Partner with Government on Reform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2026-08-26T12:46:11Z</dcterms:created>
  <dcterms:modified xsi:type="dcterms:W3CDTF">2026-08-26T12:46:11Z</dcterms:modified>
</cp:coreProperties>
</file>